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</p:embeddedFont>
    <p:embeddedFont>
      <p:font typeface="Petrona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6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60029"/>
            <a:ext cx="4722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Shopping Behavior Analysis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496119" y="280295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insights from </a:t>
            </a:r>
            <a:r>
              <a:rPr lang="en-US" sz="11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3,900 transactions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product categories — spending patterns, customer segments, and subscription behavior to guide strategic business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80293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at a Glance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496119" y="1428899"/>
            <a:ext cx="22727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3,900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702171" y="207384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Transactions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2946053" y="1428899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18</a:t>
            </a:r>
            <a:endParaRPr lang="en-US" sz="3650" dirty="0"/>
          </a:p>
        </p:txBody>
      </p:sp>
      <p:sp>
        <p:nvSpPr>
          <p:cNvPr id="7" name="Text 4"/>
          <p:cNvSpPr/>
          <p:nvPr/>
        </p:nvSpPr>
        <p:spPr>
          <a:xfrm>
            <a:off x="3152105" y="207384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721048" y="2660749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37</a:t>
            </a:r>
            <a:endParaRPr lang="en-US" sz="3650" dirty="0"/>
          </a:p>
        </p:txBody>
      </p:sp>
      <p:sp>
        <p:nvSpPr>
          <p:cNvPr id="9" name="Text 6"/>
          <p:cNvSpPr/>
          <p:nvPr/>
        </p:nvSpPr>
        <p:spPr>
          <a:xfrm>
            <a:off x="1927101" y="330569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Missing Values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721048" y="3623295"/>
            <a:ext cx="22728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Rating column only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6119" y="400957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 include customer demographics, purchase details, shopping behavior, and subscription status across 50 locations.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5162" y="370731"/>
            <a:ext cx="1184151" cy="244376"/>
          </a:xfrm>
          <a:prstGeom prst="roundRect">
            <a:avLst>
              <a:gd name="adj" fmla="val 18274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544860" y="410542"/>
            <a:ext cx="1481956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PREPARATION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5162" y="664890"/>
            <a:ext cx="623076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Exploratory Data Analysis in Python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297" y="1287810"/>
            <a:ext cx="6387331" cy="29232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69112" y="3389851"/>
            <a:ext cx="1199178" cy="485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Validate &amp; Load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57819" y="3389851"/>
            <a:ext cx="1199178" cy="485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Standardize &amp; Engineer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254740" y="3389851"/>
            <a:ext cx="1199178" cy="485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Handle Missing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18806" y="3511129"/>
            <a:ext cx="1199178" cy="242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Load Data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5162" y="4351213"/>
            <a:ext cx="8213675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Columns were renamed to snake_case for readability. The </a:t>
            </a:r>
            <a:r>
              <a:rPr lang="en-US" sz="100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column was dropped after confirming redundancy with </a:t>
            </a:r>
            <a:r>
              <a:rPr lang="en-US" sz="100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discount_applied</a:t>
            </a: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cleaned DataFrame was loaded into PostgreSQL for SQL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07132"/>
            <a:ext cx="980331" cy="266402"/>
          </a:xfrm>
          <a:prstGeom prst="roundRect">
            <a:avLst>
              <a:gd name="adj" fmla="val 17880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49622"/>
            <a:ext cx="126742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30238"/>
            <a:ext cx="5438849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&amp; Spending Insights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67470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49760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Findings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749701" y="2024063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customers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generated over 2× the revenue of female customers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839 high-spending discount users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spent above average despite using discounts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shipping averaged </a:t>
            </a:r>
            <a:r>
              <a:rPr lang="en-US" sz="11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$60.48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vs. </a:t>
            </a:r>
            <a:r>
              <a:rPr lang="en-US" sz="11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$58.46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Standard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07132"/>
            <a:ext cx="980331" cy="266402"/>
          </a:xfrm>
          <a:prstGeom prst="roundRect">
            <a:avLst>
              <a:gd name="adj" fmla="val 17880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49622"/>
            <a:ext cx="126742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30238"/>
            <a:ext cx="7373615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 Ratings &amp; Discount Dependence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67470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49760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Rated Products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749701" y="2024063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average review rating: </a:t>
            </a:r>
            <a:r>
              <a:rPr lang="en-US" sz="11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3.75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2392635"/>
            <a:ext cx="350527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Most Discount-Dependent Products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749701" y="2766938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 — 50.00% discounted purchases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Sneakers — 49.66%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Coat — 49.07%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Sweater — 48.17%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Pants — 47.37%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07132"/>
            <a:ext cx="980331" cy="266402"/>
          </a:xfrm>
          <a:prstGeom prst="roundRect">
            <a:avLst>
              <a:gd name="adj" fmla="val 17880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49622"/>
            <a:ext cx="126742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30238"/>
            <a:ext cx="5959376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Subscribers vs. Non-Subscribers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67470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49760"/>
            <a:ext cx="255917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Subscription Breakdown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749701" y="2024063"/>
            <a:ext cx="3902943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27%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customers subscribe, yet they contribute only </a:t>
            </a:r>
            <a:r>
              <a:rPr lang="en-US" sz="11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~27%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total revenue.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spend is nearly identical: </a:t>
            </a:r>
            <a:r>
              <a:rPr lang="en-US" sz="11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$59.49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(subscribers) vs. </a:t>
            </a:r>
            <a:r>
              <a:rPr lang="en-US" sz="11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$59.87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(non-subscribers).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49701" y="3218334"/>
            <a:ext cx="3902943" cy="829196"/>
          </a:xfrm>
          <a:prstGeom prst="roundRect">
            <a:avLst>
              <a:gd name="adj" fmla="val 7181"/>
            </a:avLst>
          </a:prstGeom>
          <a:solidFill>
            <a:srgbClr val="022349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3433390"/>
            <a:ext cx="177180" cy="14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0398" y="3395514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958 repeat buyers (&gt;5 purchases), only a portion subscribe — a clear growth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580653"/>
            <a:ext cx="1730201" cy="266402"/>
          </a:xfrm>
          <a:prstGeom prst="roundRect">
            <a:avLst>
              <a:gd name="adj" fmla="val 17880"/>
            </a:avLst>
          </a:prstGeom>
          <a:solidFill>
            <a:srgbClr val="1C113B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623143"/>
            <a:ext cx="201729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SEGMENTATION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903759"/>
            <a:ext cx="4722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Loyal, Returning &amp; New Customers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496119" y="2046684"/>
            <a:ext cx="2290465" cy="1527423"/>
          </a:xfrm>
          <a:prstGeom prst="roundRect">
            <a:avLst>
              <a:gd name="adj" fmla="val 3898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640" y="2193206"/>
            <a:ext cx="1860649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🏆</a:t>
            </a: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Loyal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2640" y="2520330"/>
            <a:ext cx="19974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3,116 customers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dominant segment, representing the core revenue base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8342" y="2046684"/>
            <a:ext cx="2290539" cy="1527423"/>
          </a:xfrm>
          <a:prstGeom prst="roundRect">
            <a:avLst>
              <a:gd name="adj" fmla="val 3898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74863" y="2193206"/>
            <a:ext cx="1860649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🔁</a:t>
            </a: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Returning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074863" y="2520330"/>
            <a:ext cx="19974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701 customers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strong candidates for loyalty program upgrades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6119" y="3715866"/>
            <a:ext cx="4722763" cy="846981"/>
          </a:xfrm>
          <a:prstGeom prst="roundRect">
            <a:avLst>
              <a:gd name="adj" fmla="val 7030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640" y="3862388"/>
            <a:ext cx="1860649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🌱</a:t>
            </a: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New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42640" y="4189512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 customers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smallest segment, highest growth potential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07132"/>
            <a:ext cx="1365572" cy="266402"/>
          </a:xfrm>
          <a:prstGeom prst="roundRect">
            <a:avLst>
              <a:gd name="adj" fmla="val 17880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49622"/>
            <a:ext cx="165266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30238"/>
            <a:ext cx="4768379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Products by Category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67470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49760"/>
            <a:ext cx="269751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Products per Category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749701" y="2024063"/>
            <a:ext cx="3902943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Accessories: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Jewelry (171), Sunglasses (161), Belt (161)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Clothing: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Blouse (171), Pants (171), Shirt (169)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Footwear: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Sandals (160), Shoes (150), Sneakers (145)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Outerwear: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Jacket (163), Coat (161)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349" y="410245"/>
            <a:ext cx="1339528" cy="239018"/>
          </a:xfrm>
          <a:prstGeom prst="roundRect">
            <a:avLst>
              <a:gd name="adj" fmla="val 18372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535707" y="449387"/>
            <a:ext cx="164001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DASHBOARD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349" y="697409"/>
            <a:ext cx="5489377" cy="428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Interactive Dashboard Overview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018312" y="1427336"/>
            <a:ext cx="2172519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Metrics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18312" y="1762199"/>
            <a:ext cx="2673028" cy="6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3.9K</a:t>
            </a: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customers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$59.76</a:t>
            </a: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avg. purchase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3.75</a:t>
            </a: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avg. review rating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18312" y="2569443"/>
            <a:ext cx="2172519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Filters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18312" y="2904306"/>
            <a:ext cx="2673028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Status, Gender, Category, Shipping Type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18312" y="3426470"/>
            <a:ext cx="2199829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by Age Group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018312" y="3761333"/>
            <a:ext cx="2673028" cy="929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Young Adult: ~$55K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Middle-aged: ~$50K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Adult: ~$45K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Senior: ~$40K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515037-D3B7-93E4-3C5F-F1A280C98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15" y="1427336"/>
            <a:ext cx="5191062" cy="32637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5162" y="368126"/>
            <a:ext cx="1250454" cy="244376"/>
          </a:xfrm>
          <a:prstGeom prst="roundRect">
            <a:avLst>
              <a:gd name="adj" fmla="val 18274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544860" y="407938"/>
            <a:ext cx="1548259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5162" y="662285"/>
            <a:ext cx="6462712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Strategic Business Recommendations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945" y="1289298"/>
            <a:ext cx="199355" cy="1993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7062" y="1285205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97062" y="1577950"/>
            <a:ext cx="77817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exclusive benefits to convert high-frequency non-subscribers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945" y="2037159"/>
            <a:ext cx="199355" cy="19935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7062" y="2033067"/>
            <a:ext cx="2213074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Loyalty Programs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97062" y="2325812"/>
            <a:ext cx="77817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repeat buyers to move them into the "Loyal" segment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945" y="2785021"/>
            <a:ext cx="199355" cy="19935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7062" y="2780928"/>
            <a:ext cx="185447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897062" y="3073673"/>
            <a:ext cx="77817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sales boosts with margin control on discount-heavy products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945" y="3532882"/>
            <a:ext cx="199355" cy="19935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7062" y="3528789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897062" y="3821534"/>
            <a:ext cx="77817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top-rated and best-selling products in campaigns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945" y="4280743"/>
            <a:ext cx="199355" cy="19935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97062" y="4276651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897062" y="4569396"/>
            <a:ext cx="77817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high-revenue age groups and express-shipping users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485</Words>
  <Application>Microsoft Office PowerPoint</Application>
  <PresentationFormat>On-screen Show (16:9)</PresentationFormat>
  <Paragraphs>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</vt:lpstr>
      <vt:lpstr>Consolas</vt:lpstr>
      <vt:lpstr>Arial</vt:lpstr>
      <vt:lpstr>Petrona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akshay bhilare</dc:creator>
  <cp:lastModifiedBy>akshay bhilare</cp:lastModifiedBy>
  <cp:revision>2</cp:revision>
  <dcterms:created xsi:type="dcterms:W3CDTF">2026-06-02T07:03:44Z</dcterms:created>
  <dcterms:modified xsi:type="dcterms:W3CDTF">2026-06-02T07:41:04Z</dcterms:modified>
</cp:coreProperties>
</file>